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Lato-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2addb25f7c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2addb25f7c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2ea18b6303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2ea18b630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567a0fd58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567a0fd58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67a0fd58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67a0fd58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567a0fd58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567a0fd58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67a0fd58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67a0fd58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56a3d9bed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56a3d9bed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5fee23f32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5fee23f32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56a3d9bed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56a3d9bed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fee23f3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fee23f3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5fee23f32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5fee23f32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5fee23f32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5fee23f32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5fee23f32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5fee23f32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5fee23f32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5fee23f32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5fee23f32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5fee23f32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5fee23f32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5fee23f32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5fee23f32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5fee23f32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8.jpg"/><Relationship Id="rId5"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15.jpg"/><Relationship Id="rId5"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hyperlink" Target="https://www.google.com/slides/about/" TargetMode="External"/><Relationship Id="rId9" Type="http://schemas.openxmlformats.org/officeDocument/2006/relationships/hyperlink" Target="https://www.bing.com/create" TargetMode="External"/><Relationship Id="rId5" Type="http://schemas.openxmlformats.org/officeDocument/2006/relationships/hyperlink" Target="https://app.diagrams.net/" TargetMode="External"/><Relationship Id="rId6" Type="http://schemas.openxmlformats.org/officeDocument/2006/relationships/hyperlink" Target="https://chat.openai.com/auth/login" TargetMode="External"/><Relationship Id="rId7" Type="http://schemas.openxmlformats.org/officeDocument/2006/relationships/hyperlink" Target="https://www.google.com/docs/about/" TargetMode="External"/><Relationship Id="rId8" Type="http://schemas.openxmlformats.org/officeDocument/2006/relationships/hyperlink" Target="https://colab.research.google.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680">
                <a:solidFill>
                  <a:schemeClr val="lt1"/>
                </a:solidFill>
              </a:rPr>
              <a:t>Handwritten Digit Recognition System using Convolutional Neural Network</a:t>
            </a:r>
            <a:endParaRPr sz="3680">
              <a:solidFill>
                <a:schemeClr val="lt1"/>
              </a:solidFill>
            </a:endParaRPr>
          </a:p>
        </p:txBody>
      </p:sp>
      <p:sp>
        <p:nvSpPr>
          <p:cNvPr id="55" name="Google Shape;55;p13"/>
          <p:cNvSpPr txBox="1"/>
          <p:nvPr>
            <p:ph idx="1" type="subTitle"/>
          </p:nvPr>
        </p:nvSpPr>
        <p:spPr>
          <a:xfrm>
            <a:off x="311688" y="2797163"/>
            <a:ext cx="8222100" cy="432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935"/>
              <a:buNone/>
            </a:pPr>
            <a:r>
              <a:rPr lang="en" sz="1400">
                <a:solidFill>
                  <a:schemeClr val="lt1"/>
                </a:solidFill>
              </a:rPr>
              <a:t>Presented By: Sayan Mondal, Chandan Mondal, Rahul Basak, Sayantan Sardar.</a:t>
            </a:r>
            <a:endParaRPr sz="1400">
              <a:solidFill>
                <a:schemeClr val="lt1"/>
              </a:solidFill>
            </a:endParaRPr>
          </a:p>
        </p:txBody>
      </p:sp>
      <p:sp>
        <p:nvSpPr>
          <p:cNvPr id="56" name="Google Shape;56;p13"/>
          <p:cNvSpPr txBox="1"/>
          <p:nvPr/>
        </p:nvSpPr>
        <p:spPr>
          <a:xfrm>
            <a:off x="311700" y="3230075"/>
            <a:ext cx="720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Roboto"/>
                <a:ea typeface="Roboto"/>
                <a:cs typeface="Roboto"/>
                <a:sym typeface="Roboto"/>
              </a:rPr>
              <a:t>Date: 10.08.2023</a:t>
            </a:r>
            <a:endParaRPr>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SzPts val="990"/>
              <a:buNone/>
            </a:pPr>
            <a:r>
              <a:rPr lang="en" sz="2500">
                <a:solidFill>
                  <a:schemeClr val="lt1"/>
                </a:solidFill>
              </a:rPr>
              <a:t>Overview</a:t>
            </a:r>
            <a:endParaRPr sz="2500">
              <a:solidFill>
                <a:schemeClr val="lt1"/>
              </a:solidFill>
            </a:endParaRPr>
          </a:p>
        </p:txBody>
      </p:sp>
      <p:sp>
        <p:nvSpPr>
          <p:cNvPr id="62" name="Google Shape;62;p1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17500" lvl="0" marL="457200" rtl="0" algn="just">
              <a:spcBef>
                <a:spcPts val="0"/>
              </a:spcBef>
              <a:spcAft>
                <a:spcPts val="0"/>
              </a:spcAft>
              <a:buClr>
                <a:srgbClr val="F3F3F3"/>
              </a:buClr>
              <a:buSzPts val="1400"/>
              <a:buChar char="❖"/>
            </a:pPr>
            <a:r>
              <a:rPr lang="en">
                <a:solidFill>
                  <a:srgbClr val="F3F3F3"/>
                </a:solidFill>
              </a:rPr>
              <a:t>Handwritten digit recognition is the ability of a computer to identify handwritten numbers and convert them into digital format.</a:t>
            </a:r>
            <a:endParaRPr>
              <a:solidFill>
                <a:srgbClr val="F3F3F3"/>
              </a:solidFill>
            </a:endParaRPr>
          </a:p>
          <a:p>
            <a:pPr indent="-317500" lvl="0" marL="457200" rtl="0" algn="just">
              <a:spcBef>
                <a:spcPts val="1000"/>
              </a:spcBef>
              <a:spcAft>
                <a:spcPts val="0"/>
              </a:spcAft>
              <a:buClr>
                <a:srgbClr val="F3F3F3"/>
              </a:buClr>
              <a:buSzPts val="1400"/>
              <a:buChar char="❖"/>
            </a:pPr>
            <a:r>
              <a:rPr lang="en">
                <a:solidFill>
                  <a:srgbClr val="F3F3F3"/>
                </a:solidFill>
              </a:rPr>
              <a:t>To achieve this, computer systems use machine learning algorithms like convolutional neural network which are trained on large datasets of labeled examples. These algorithms analyze the structure of each digit to identify its unique features and use this information to classify them.</a:t>
            </a:r>
            <a:endParaRPr sz="1500">
              <a:solidFill>
                <a:srgbClr val="F3F3F3"/>
              </a:solidFill>
            </a:endParaRPr>
          </a:p>
        </p:txBody>
      </p:sp>
      <p:pic>
        <p:nvPicPr>
          <p:cNvPr id="63" name="Google Shape;63;p14"/>
          <p:cNvPicPr preferRelativeResize="0"/>
          <p:nvPr/>
        </p:nvPicPr>
        <p:blipFill>
          <a:blip r:embed="rId4">
            <a:alphaModFix/>
          </a:blip>
          <a:stretch>
            <a:fillRect/>
          </a:stretch>
        </p:blipFill>
        <p:spPr>
          <a:xfrm>
            <a:off x="4726800" y="462650"/>
            <a:ext cx="3745651" cy="4218200"/>
          </a:xfrm>
          <a:prstGeom prst="rect">
            <a:avLst/>
          </a:prstGeom>
          <a:noFill/>
          <a:ln>
            <a:noFill/>
          </a:ln>
        </p:spPr>
      </p:pic>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just">
              <a:spcBef>
                <a:spcPts val="0"/>
              </a:spcBef>
              <a:spcAft>
                <a:spcPts val="0"/>
              </a:spcAft>
              <a:buNone/>
            </a:pPr>
            <a:r>
              <a:rPr lang="en">
                <a:solidFill>
                  <a:schemeClr val="lt1"/>
                </a:solidFill>
              </a:rPr>
              <a:t>Problem Statement</a:t>
            </a:r>
            <a:r>
              <a:rPr lang="en">
                <a:solidFill>
                  <a:schemeClr val="lt1"/>
                </a:solidFill>
              </a:rPr>
              <a:t> </a:t>
            </a:r>
            <a:endParaRPr>
              <a:solidFill>
                <a:schemeClr val="lt1"/>
              </a:solidFill>
            </a:endParaRPr>
          </a:p>
        </p:txBody>
      </p:sp>
      <p:sp>
        <p:nvSpPr>
          <p:cNvPr id="70" name="Google Shape;70;p15"/>
          <p:cNvSpPr txBox="1"/>
          <p:nvPr/>
        </p:nvSpPr>
        <p:spPr>
          <a:xfrm>
            <a:off x="311700" y="1426700"/>
            <a:ext cx="72084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solidFill>
                <a:schemeClr val="lt1"/>
              </a:solidFill>
              <a:latin typeface="Roboto"/>
              <a:ea typeface="Roboto"/>
              <a:cs typeface="Roboto"/>
              <a:sym typeface="Roboto"/>
            </a:endParaRPr>
          </a:p>
        </p:txBody>
      </p:sp>
      <p:sp>
        <p:nvSpPr>
          <p:cNvPr id="71" name="Google Shape;71;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rgbClr val="F3F3F3"/>
              </a:buClr>
              <a:buSzPts val="1400"/>
              <a:buChar char="❖"/>
            </a:pPr>
            <a:r>
              <a:rPr lang="en">
                <a:solidFill>
                  <a:srgbClr val="F3F3F3"/>
                </a:solidFill>
              </a:rPr>
              <a:t>The problem addressed in our project is the accurate recognition of handwritten digits.</a:t>
            </a:r>
            <a:endParaRPr>
              <a:solidFill>
                <a:srgbClr val="F3F3F3"/>
              </a:solidFill>
            </a:endParaRPr>
          </a:p>
          <a:p>
            <a:pPr indent="-317500" lvl="0" marL="457200" rtl="0" algn="just">
              <a:spcBef>
                <a:spcPts val="1000"/>
              </a:spcBef>
              <a:spcAft>
                <a:spcPts val="0"/>
              </a:spcAft>
              <a:buClr>
                <a:srgbClr val="F3F3F3"/>
              </a:buClr>
              <a:buSzPts val="1400"/>
              <a:buChar char="❖"/>
            </a:pPr>
            <a:r>
              <a:rPr lang="en">
                <a:solidFill>
                  <a:srgbClr val="F3F3F3"/>
                </a:solidFill>
              </a:rPr>
              <a:t>Handwriting includes significant variations in style, shape and size. Traditional methods often struggle to handle these variations leading to suboptimal results and limited applicability.</a:t>
            </a:r>
            <a:endParaRPr>
              <a:solidFill>
                <a:srgbClr val="F3F3F3"/>
              </a:solidFill>
            </a:endParaRPr>
          </a:p>
          <a:p>
            <a:pPr indent="0" lvl="0" marL="457200" rtl="0" algn="just">
              <a:spcBef>
                <a:spcPts val="1000"/>
              </a:spcBef>
              <a:spcAft>
                <a:spcPts val="1200"/>
              </a:spcAft>
              <a:buNone/>
            </a:pPr>
            <a:r>
              <a:t/>
            </a:r>
            <a:endParaRPr sz="1500">
              <a:solidFill>
                <a:schemeClr val="lt1"/>
              </a:solidFill>
            </a:endParaRPr>
          </a:p>
        </p:txBody>
      </p:sp>
      <p:pic>
        <p:nvPicPr>
          <p:cNvPr id="72" name="Google Shape;72;p15"/>
          <p:cNvPicPr preferRelativeResize="0"/>
          <p:nvPr/>
        </p:nvPicPr>
        <p:blipFill>
          <a:blip r:embed="rId4">
            <a:alphaModFix/>
          </a:blip>
          <a:stretch>
            <a:fillRect/>
          </a:stretch>
        </p:blipFill>
        <p:spPr>
          <a:xfrm>
            <a:off x="4642925" y="462650"/>
            <a:ext cx="3829524" cy="4218199"/>
          </a:xfrm>
          <a:prstGeom prst="rect">
            <a:avLst/>
          </a:prstGeom>
          <a:noFill/>
          <a:ln>
            <a:noFill/>
          </a:ln>
        </p:spPr>
      </p:pic>
      <p:sp>
        <p:nvSpPr>
          <p:cNvPr id="73" name="Google Shape;7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Challenges</a:t>
            </a:r>
            <a:endParaRPr>
              <a:solidFill>
                <a:schemeClr val="lt1"/>
              </a:solidFill>
            </a:endParaRPr>
          </a:p>
        </p:txBody>
      </p:sp>
      <p:sp>
        <p:nvSpPr>
          <p:cNvPr id="79" name="Google Shape;79;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rgbClr val="F3F3F3"/>
              </a:buClr>
              <a:buSzPts val="1400"/>
              <a:buChar char="❖"/>
            </a:pPr>
            <a:r>
              <a:rPr lang="en">
                <a:solidFill>
                  <a:srgbClr val="F3F3F3"/>
                </a:solidFill>
              </a:rPr>
              <a:t>One of the biggest challenge in handwritten digit recognition is dealing with variations in writing styles. People have different ways of writing the same digit, this can make it difficult for a model to accurately identify them.</a:t>
            </a:r>
            <a:endParaRPr>
              <a:solidFill>
                <a:srgbClr val="F3F3F3"/>
              </a:solidFill>
            </a:endParaRPr>
          </a:p>
          <a:p>
            <a:pPr indent="-317500" lvl="0" marL="457200" rtl="0" algn="just">
              <a:spcBef>
                <a:spcPts val="1000"/>
              </a:spcBef>
              <a:spcAft>
                <a:spcPts val="1000"/>
              </a:spcAft>
              <a:buClr>
                <a:srgbClr val="F3F3F3"/>
              </a:buClr>
              <a:buSzPts val="1400"/>
              <a:buChar char="❖"/>
            </a:pPr>
            <a:r>
              <a:rPr lang="en">
                <a:solidFill>
                  <a:srgbClr val="F3F3F3"/>
                </a:solidFill>
              </a:rPr>
              <a:t>Another Challenge is dealing with noise in the data, digits can be incomplete, overlapped and this affects the accuracy of the model.</a:t>
            </a:r>
            <a:endParaRPr>
              <a:solidFill>
                <a:srgbClr val="F3F3F3"/>
              </a:solidFill>
            </a:endParaRPr>
          </a:p>
        </p:txBody>
      </p:sp>
      <p:pic>
        <p:nvPicPr>
          <p:cNvPr id="80" name="Google Shape;80;p16"/>
          <p:cNvPicPr preferRelativeResize="0"/>
          <p:nvPr/>
        </p:nvPicPr>
        <p:blipFill>
          <a:blip r:embed="rId4">
            <a:alphaModFix/>
          </a:blip>
          <a:stretch>
            <a:fillRect/>
          </a:stretch>
        </p:blipFill>
        <p:spPr>
          <a:xfrm>
            <a:off x="4651475" y="462650"/>
            <a:ext cx="3820974" cy="4218200"/>
          </a:xfrm>
          <a:prstGeom prst="rect">
            <a:avLst/>
          </a:prstGeom>
          <a:noFill/>
          <a:ln>
            <a:noFill/>
          </a:ln>
        </p:spPr>
      </p:pic>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Applications &amp; Impact</a:t>
            </a:r>
            <a:endParaRPr>
              <a:solidFill>
                <a:schemeClr val="lt1"/>
              </a:solidFill>
            </a:endParaRPr>
          </a:p>
        </p:txBody>
      </p:sp>
      <p:sp>
        <p:nvSpPr>
          <p:cNvPr id="87" name="Google Shape;8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rgbClr val="F3F3F3"/>
              </a:buClr>
              <a:buSzPts val="1400"/>
              <a:buChar char="❖"/>
            </a:pPr>
            <a:r>
              <a:rPr lang="en">
                <a:solidFill>
                  <a:srgbClr val="F3F3F3"/>
                </a:solidFill>
              </a:rPr>
              <a:t>Handwritten digit recognition has variety of </a:t>
            </a:r>
            <a:r>
              <a:rPr lang="en">
                <a:solidFill>
                  <a:srgbClr val="F3F3F3"/>
                </a:solidFill>
              </a:rPr>
              <a:t>potential applications from finance to form processing to postal automation.</a:t>
            </a:r>
            <a:endParaRPr>
              <a:solidFill>
                <a:srgbClr val="F3F3F3"/>
              </a:solidFill>
            </a:endParaRPr>
          </a:p>
          <a:p>
            <a:pPr indent="-317500" lvl="0" marL="457200" rtl="0" algn="just">
              <a:spcBef>
                <a:spcPts val="1000"/>
              </a:spcBef>
              <a:spcAft>
                <a:spcPts val="0"/>
              </a:spcAft>
              <a:buClr>
                <a:srgbClr val="F3F3F3"/>
              </a:buClr>
              <a:buSzPts val="1400"/>
              <a:buChar char="❖"/>
            </a:pPr>
            <a:r>
              <a:rPr lang="en">
                <a:solidFill>
                  <a:srgbClr val="F3F3F3"/>
                </a:solidFill>
              </a:rPr>
              <a:t>In the banking industry where cheque and other financial documents often require manual processing, with this system they can automate this process which will save time and reduce errors.</a:t>
            </a:r>
            <a:endParaRPr>
              <a:solidFill>
                <a:srgbClr val="F3F3F3"/>
              </a:solidFill>
            </a:endParaRPr>
          </a:p>
          <a:p>
            <a:pPr indent="-317500" lvl="0" marL="457200" rtl="0" algn="just">
              <a:spcBef>
                <a:spcPts val="1000"/>
              </a:spcBef>
              <a:spcAft>
                <a:spcPts val="1000"/>
              </a:spcAft>
              <a:buClr>
                <a:srgbClr val="F3F3F3"/>
              </a:buClr>
              <a:buSzPts val="1400"/>
              <a:buChar char="❖"/>
            </a:pPr>
            <a:r>
              <a:rPr lang="en">
                <a:solidFill>
                  <a:srgbClr val="F3F3F3"/>
                </a:solidFill>
              </a:rPr>
              <a:t>In postal services accurately recognizing zip codes, tracking numbers can enhance the speed and accuracy of the process.</a:t>
            </a:r>
            <a:endParaRPr>
              <a:solidFill>
                <a:srgbClr val="F3F3F3"/>
              </a:solidFill>
            </a:endParaRPr>
          </a:p>
        </p:txBody>
      </p:sp>
      <p:sp>
        <p:nvSpPr>
          <p:cNvPr id="88" name="Google Shape;8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89" name="Google Shape;89;p17"/>
          <p:cNvPicPr preferRelativeResize="0"/>
          <p:nvPr/>
        </p:nvPicPr>
        <p:blipFill>
          <a:blip r:embed="rId4">
            <a:alphaModFix/>
          </a:blip>
          <a:stretch>
            <a:fillRect/>
          </a:stretch>
        </p:blipFill>
        <p:spPr>
          <a:xfrm>
            <a:off x="4651475" y="462650"/>
            <a:ext cx="3820974" cy="4218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just">
              <a:spcBef>
                <a:spcPts val="0"/>
              </a:spcBef>
              <a:spcAft>
                <a:spcPts val="0"/>
              </a:spcAft>
              <a:buNone/>
            </a:pPr>
            <a:r>
              <a:rPr lang="en">
                <a:solidFill>
                  <a:schemeClr val="lt1"/>
                </a:solidFill>
              </a:rPr>
              <a:t>Methodology</a:t>
            </a:r>
            <a:endParaRPr>
              <a:solidFill>
                <a:schemeClr val="lt1"/>
              </a:solidFill>
            </a:endParaRPr>
          </a:p>
        </p:txBody>
      </p:sp>
      <p:sp>
        <p:nvSpPr>
          <p:cNvPr id="95" name="Google Shape;95;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20000"/>
          </a:bodyPr>
          <a:lstStyle/>
          <a:p>
            <a:pPr indent="-317500" lvl="0" marL="457200" rtl="0" algn="just">
              <a:spcBef>
                <a:spcPts val="0"/>
              </a:spcBef>
              <a:spcAft>
                <a:spcPts val="0"/>
              </a:spcAft>
              <a:buClr>
                <a:srgbClr val="F3F3F3"/>
              </a:buClr>
              <a:buSzPts val="1400"/>
              <a:buChar char="❖"/>
            </a:pPr>
            <a:r>
              <a:rPr lang="en">
                <a:solidFill>
                  <a:srgbClr val="F3F3F3"/>
                </a:solidFill>
              </a:rPr>
              <a:t>Methodologies we followed -</a:t>
            </a:r>
            <a:endParaRPr>
              <a:solidFill>
                <a:srgbClr val="F3F3F3"/>
              </a:solidFill>
            </a:endParaRPr>
          </a:p>
          <a:p>
            <a:pPr indent="-304800" lvl="1" marL="914400" rtl="0" algn="just">
              <a:spcBef>
                <a:spcPts val="1000"/>
              </a:spcBef>
              <a:spcAft>
                <a:spcPts val="0"/>
              </a:spcAft>
              <a:buClr>
                <a:srgbClr val="F3F3F3"/>
              </a:buClr>
              <a:buSzPts val="1200"/>
              <a:buChar char="➢"/>
            </a:pPr>
            <a:r>
              <a:rPr lang="en">
                <a:solidFill>
                  <a:srgbClr val="F3F3F3"/>
                </a:solidFill>
              </a:rPr>
              <a:t>Dataset preprocessing</a:t>
            </a:r>
            <a:endParaRPr>
              <a:solidFill>
                <a:srgbClr val="F3F3F3"/>
              </a:solidFill>
            </a:endParaRPr>
          </a:p>
          <a:p>
            <a:pPr indent="-304800" lvl="1" marL="914400" rtl="0" algn="just">
              <a:spcBef>
                <a:spcPts val="1000"/>
              </a:spcBef>
              <a:spcAft>
                <a:spcPts val="0"/>
              </a:spcAft>
              <a:buClr>
                <a:srgbClr val="F3F3F3"/>
              </a:buClr>
              <a:buSzPts val="1200"/>
              <a:buChar char="➢"/>
            </a:pPr>
            <a:r>
              <a:rPr lang="en">
                <a:solidFill>
                  <a:srgbClr val="F3F3F3"/>
                </a:solidFill>
              </a:rPr>
              <a:t>A convolutional neural networks including multiple layers such as convolutional layers, pooling layers and fully connected layers.</a:t>
            </a:r>
            <a:endParaRPr>
              <a:solidFill>
                <a:srgbClr val="F3F3F3"/>
              </a:solidFill>
            </a:endParaRPr>
          </a:p>
          <a:p>
            <a:pPr indent="-304800" lvl="1" marL="914400" rtl="0" algn="just">
              <a:spcBef>
                <a:spcPts val="1000"/>
              </a:spcBef>
              <a:spcAft>
                <a:spcPts val="0"/>
              </a:spcAft>
              <a:buClr>
                <a:srgbClr val="F3F3F3"/>
              </a:buClr>
              <a:buSzPts val="1200"/>
              <a:buChar char="➢"/>
            </a:pPr>
            <a:r>
              <a:rPr lang="en">
                <a:solidFill>
                  <a:srgbClr val="F3F3F3"/>
                </a:solidFill>
              </a:rPr>
              <a:t>Trained the CNN model using preprocessed dataset.</a:t>
            </a:r>
            <a:endParaRPr>
              <a:solidFill>
                <a:srgbClr val="F3F3F3"/>
              </a:solidFill>
            </a:endParaRPr>
          </a:p>
          <a:p>
            <a:pPr indent="-304800" lvl="1" marL="914400" rtl="0" algn="just">
              <a:spcBef>
                <a:spcPts val="1000"/>
              </a:spcBef>
              <a:spcAft>
                <a:spcPts val="0"/>
              </a:spcAft>
              <a:buClr>
                <a:srgbClr val="F3F3F3"/>
              </a:buClr>
              <a:buSzPts val="1200"/>
              <a:buChar char="➢"/>
            </a:pPr>
            <a:r>
              <a:rPr lang="en">
                <a:solidFill>
                  <a:srgbClr val="F3F3F3"/>
                </a:solidFill>
              </a:rPr>
              <a:t>Evaluated the performance of the trained model using various metrics.</a:t>
            </a:r>
            <a:endParaRPr>
              <a:solidFill>
                <a:srgbClr val="F3F3F3"/>
              </a:solidFill>
            </a:endParaRPr>
          </a:p>
          <a:p>
            <a:pPr indent="-304800" lvl="1" marL="914400" rtl="0" algn="just">
              <a:spcBef>
                <a:spcPts val="1000"/>
              </a:spcBef>
              <a:spcAft>
                <a:spcPts val="0"/>
              </a:spcAft>
              <a:buClr>
                <a:srgbClr val="F3F3F3"/>
              </a:buClr>
              <a:buSzPts val="1200"/>
              <a:buChar char="➢"/>
            </a:pPr>
            <a:r>
              <a:rPr lang="en">
                <a:solidFill>
                  <a:srgbClr val="F3F3F3"/>
                </a:solidFill>
              </a:rPr>
              <a:t>To optimize the performance we performed hyperparameter tuning.</a:t>
            </a:r>
            <a:endParaRPr>
              <a:solidFill>
                <a:srgbClr val="F3F3F3"/>
              </a:solidFill>
            </a:endParaRPr>
          </a:p>
          <a:p>
            <a:pPr indent="-304800" lvl="1" marL="914400" rtl="0" algn="just">
              <a:spcBef>
                <a:spcPts val="1000"/>
              </a:spcBef>
              <a:spcAft>
                <a:spcPts val="1000"/>
              </a:spcAft>
              <a:buClr>
                <a:srgbClr val="F3F3F3"/>
              </a:buClr>
              <a:buSzPts val="1200"/>
              <a:buChar char="➢"/>
            </a:pPr>
            <a:r>
              <a:rPr lang="en">
                <a:solidFill>
                  <a:srgbClr val="F3F3F3"/>
                </a:solidFill>
              </a:rPr>
              <a:t>Analyzed the model’s performance and accuracy using the test dataset.</a:t>
            </a:r>
            <a:endParaRPr>
              <a:solidFill>
                <a:srgbClr val="F3F3F3"/>
              </a:solidFill>
            </a:endParaRPr>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97" name="Google Shape;97;p18"/>
          <p:cNvPicPr preferRelativeResize="0"/>
          <p:nvPr/>
        </p:nvPicPr>
        <p:blipFill>
          <a:blip r:embed="rId4">
            <a:alphaModFix/>
          </a:blip>
          <a:stretch>
            <a:fillRect/>
          </a:stretch>
        </p:blipFill>
        <p:spPr>
          <a:xfrm>
            <a:off x="4651475" y="462650"/>
            <a:ext cx="3820974" cy="4218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Dataset &amp; Preprocessing</a:t>
            </a:r>
            <a:endParaRPr>
              <a:solidFill>
                <a:schemeClr val="lt1"/>
              </a:solidFill>
            </a:endParaRPr>
          </a:p>
        </p:txBody>
      </p:sp>
      <p:sp>
        <p:nvSpPr>
          <p:cNvPr id="103" name="Google Shape;103;p1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317500" lvl="0" marL="457200" rtl="0" algn="just">
              <a:spcBef>
                <a:spcPts val="0"/>
              </a:spcBef>
              <a:spcAft>
                <a:spcPts val="0"/>
              </a:spcAft>
              <a:buClr>
                <a:srgbClr val="F3F3F3"/>
              </a:buClr>
              <a:buSzPts val="1400"/>
              <a:buChar char="❖"/>
            </a:pPr>
            <a:r>
              <a:rPr lang="en">
                <a:solidFill>
                  <a:srgbClr val="F3F3F3"/>
                </a:solidFill>
              </a:rPr>
              <a:t>The dataset used in this project is the MNIST dataset, which consists of 70,000 images of handwritten digits which is splitted into 60,000 training and 10,000 testing examples.</a:t>
            </a:r>
            <a:endParaRPr>
              <a:solidFill>
                <a:srgbClr val="F3F3F3"/>
              </a:solidFill>
            </a:endParaRPr>
          </a:p>
          <a:p>
            <a:pPr indent="-317500" lvl="0" marL="457200" rtl="0" algn="just">
              <a:spcBef>
                <a:spcPts val="1000"/>
              </a:spcBef>
              <a:spcAft>
                <a:spcPts val="0"/>
              </a:spcAft>
              <a:buClr>
                <a:srgbClr val="F3F3F3"/>
              </a:buClr>
              <a:buSzPts val="1400"/>
              <a:buChar char="❖"/>
            </a:pPr>
            <a:r>
              <a:rPr lang="en">
                <a:solidFill>
                  <a:srgbClr val="F3F3F3"/>
                </a:solidFill>
              </a:rPr>
              <a:t>Preprocessing - </a:t>
            </a:r>
            <a:endParaRPr>
              <a:solidFill>
                <a:srgbClr val="F3F3F3"/>
              </a:solidFill>
            </a:endParaRPr>
          </a:p>
          <a:p>
            <a:pPr indent="-304800" lvl="1" marL="914400" rtl="0" algn="just">
              <a:spcBef>
                <a:spcPts val="1000"/>
              </a:spcBef>
              <a:spcAft>
                <a:spcPts val="0"/>
              </a:spcAft>
              <a:buClr>
                <a:srgbClr val="F3F3F3"/>
              </a:buClr>
              <a:buSzPts val="1200"/>
              <a:buChar char="➢"/>
            </a:pPr>
            <a:r>
              <a:rPr lang="en">
                <a:solidFill>
                  <a:srgbClr val="F3F3F3"/>
                </a:solidFill>
              </a:rPr>
              <a:t>Normalized the pixel values of grayscale images between 0 and 1.</a:t>
            </a:r>
            <a:endParaRPr>
              <a:solidFill>
                <a:srgbClr val="F3F3F3"/>
              </a:solidFill>
            </a:endParaRPr>
          </a:p>
          <a:p>
            <a:pPr indent="-304800" lvl="1" marL="914400" rtl="0" algn="just">
              <a:spcBef>
                <a:spcPts val="1000"/>
              </a:spcBef>
              <a:spcAft>
                <a:spcPts val="0"/>
              </a:spcAft>
              <a:buClr>
                <a:srgbClr val="F3F3F3"/>
              </a:buClr>
              <a:buSzPts val="1200"/>
              <a:buChar char="➢"/>
            </a:pPr>
            <a:r>
              <a:rPr lang="en">
                <a:solidFill>
                  <a:srgbClr val="F3F3F3"/>
                </a:solidFill>
              </a:rPr>
              <a:t>Images were resized to 28*28 pixels to ensure consistency across the dataset.</a:t>
            </a:r>
            <a:endParaRPr>
              <a:solidFill>
                <a:srgbClr val="F3F3F3"/>
              </a:solidFill>
            </a:endParaRPr>
          </a:p>
          <a:p>
            <a:pPr indent="-317500" lvl="0" marL="457200" rtl="0" algn="just">
              <a:spcBef>
                <a:spcPts val="1000"/>
              </a:spcBef>
              <a:spcAft>
                <a:spcPts val="1000"/>
              </a:spcAft>
              <a:buClr>
                <a:srgbClr val="F3F3F3"/>
              </a:buClr>
              <a:buSzPts val="1400"/>
              <a:buChar char="❖"/>
            </a:pPr>
            <a:r>
              <a:rPr lang="en">
                <a:solidFill>
                  <a:srgbClr val="F3F3F3"/>
                </a:solidFill>
              </a:rPr>
              <a:t>After preprocessing, dataset were divided into train and test sets.</a:t>
            </a:r>
            <a:endParaRPr>
              <a:solidFill>
                <a:srgbClr val="F3F3F3"/>
              </a:solidFill>
            </a:endParaRPr>
          </a:p>
        </p:txBody>
      </p:sp>
      <p:sp>
        <p:nvSpPr>
          <p:cNvPr id="104" name="Google Shape;10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105" name="Google Shape;105;p19"/>
          <p:cNvPicPr preferRelativeResize="0"/>
          <p:nvPr/>
        </p:nvPicPr>
        <p:blipFill rotWithShape="1">
          <a:blip r:embed="rId4">
            <a:alphaModFix/>
          </a:blip>
          <a:srcRect b="2598" l="0" r="0" t="2588"/>
          <a:stretch/>
        </p:blipFill>
        <p:spPr>
          <a:xfrm>
            <a:off x="4651475" y="462650"/>
            <a:ext cx="3820975" cy="4218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Model Architecture</a:t>
            </a:r>
            <a:endParaRPr>
              <a:solidFill>
                <a:schemeClr val="lt1"/>
              </a:solidFill>
            </a:endParaRPr>
          </a:p>
        </p:txBody>
      </p:sp>
      <p:sp>
        <p:nvSpPr>
          <p:cNvPr id="111" name="Google Shape;111;p2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317500" lvl="0" marL="457200" rtl="0" algn="just">
              <a:spcBef>
                <a:spcPts val="0"/>
              </a:spcBef>
              <a:spcAft>
                <a:spcPts val="0"/>
              </a:spcAft>
              <a:buClr>
                <a:srgbClr val="F3F3F3"/>
              </a:buClr>
              <a:buSzPts val="1400"/>
              <a:buChar char="❖"/>
            </a:pPr>
            <a:r>
              <a:rPr lang="en">
                <a:solidFill>
                  <a:srgbClr val="F3F3F3"/>
                </a:solidFill>
              </a:rPr>
              <a:t>A Convolutional Neural Network (CNN) is a type of artificial neural network that is commonly used in image recognition tasks, such as handwritten digit recognition.</a:t>
            </a:r>
            <a:endParaRPr>
              <a:solidFill>
                <a:srgbClr val="F3F3F3"/>
              </a:solidFill>
            </a:endParaRPr>
          </a:p>
          <a:p>
            <a:pPr indent="-317500" lvl="0" marL="457200" rtl="0" algn="just">
              <a:spcBef>
                <a:spcPts val="1000"/>
              </a:spcBef>
              <a:spcAft>
                <a:spcPts val="0"/>
              </a:spcAft>
              <a:buClr>
                <a:srgbClr val="F3F3F3"/>
              </a:buClr>
              <a:buSzPts val="1400"/>
              <a:buChar char="❖"/>
            </a:pPr>
            <a:r>
              <a:rPr lang="en">
                <a:solidFill>
                  <a:srgbClr val="F3F3F3"/>
                </a:solidFill>
              </a:rPr>
              <a:t>CNNs consist of multiple layers including convolutional, pooling and fully connected.</a:t>
            </a:r>
            <a:endParaRPr>
              <a:solidFill>
                <a:srgbClr val="F3F3F3"/>
              </a:solidFill>
            </a:endParaRPr>
          </a:p>
          <a:p>
            <a:pPr indent="-317500" lvl="0" marL="457200" rtl="0" algn="just">
              <a:spcBef>
                <a:spcPts val="1000"/>
              </a:spcBef>
              <a:spcAft>
                <a:spcPts val="1000"/>
              </a:spcAft>
              <a:buClr>
                <a:srgbClr val="F3F3F3"/>
              </a:buClr>
              <a:buSzPts val="1400"/>
              <a:buChar char="❖"/>
            </a:pPr>
            <a:r>
              <a:rPr lang="en">
                <a:solidFill>
                  <a:srgbClr val="F3F3F3"/>
                </a:solidFill>
              </a:rPr>
              <a:t>The convolutional layers are responsible for detecting features in input images, the pooling layers reduce the </a:t>
            </a:r>
            <a:r>
              <a:rPr lang="en">
                <a:solidFill>
                  <a:srgbClr val="F3F3F3"/>
                </a:solidFill>
              </a:rPr>
              <a:t>dimensionality</a:t>
            </a:r>
            <a:r>
              <a:rPr lang="en">
                <a:solidFill>
                  <a:srgbClr val="F3F3F3"/>
                </a:solidFill>
              </a:rPr>
              <a:t> of the feature maps and fully connected layers classify the input image based on detected features.</a:t>
            </a:r>
            <a:endParaRPr>
              <a:solidFill>
                <a:srgbClr val="F3F3F3"/>
              </a:solidFill>
            </a:endParaRPr>
          </a:p>
        </p:txBody>
      </p:sp>
      <p:sp>
        <p:nvSpPr>
          <p:cNvPr id="112" name="Google Shape;11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113" name="Google Shape;113;p20"/>
          <p:cNvPicPr preferRelativeResize="0"/>
          <p:nvPr/>
        </p:nvPicPr>
        <p:blipFill>
          <a:blip r:embed="rId4">
            <a:alphaModFix/>
          </a:blip>
          <a:stretch>
            <a:fillRect/>
          </a:stretch>
        </p:blipFill>
        <p:spPr>
          <a:xfrm>
            <a:off x="4651475" y="462650"/>
            <a:ext cx="3820974" cy="42181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3F3F3"/>
                </a:solidFill>
              </a:rPr>
              <a:t>Model Architecture Diagram</a:t>
            </a:r>
            <a:endParaRPr>
              <a:solidFill>
                <a:srgbClr val="F3F3F3"/>
              </a:solidFill>
            </a:endParaRPr>
          </a:p>
        </p:txBody>
      </p:sp>
      <p:sp>
        <p:nvSpPr>
          <p:cNvPr id="119" name="Google Shape;11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F3F3F3"/>
                </a:solidFill>
              </a:rPr>
              <a:t>‹#›</a:t>
            </a:fld>
            <a:endParaRPr>
              <a:solidFill>
                <a:srgbClr val="F3F3F3"/>
              </a:solidFill>
            </a:endParaRPr>
          </a:p>
        </p:txBody>
      </p:sp>
      <p:pic>
        <p:nvPicPr>
          <p:cNvPr id="120" name="Google Shape;120;p21"/>
          <p:cNvPicPr preferRelativeResize="0"/>
          <p:nvPr/>
        </p:nvPicPr>
        <p:blipFill>
          <a:blip r:embed="rId4">
            <a:alphaModFix/>
          </a:blip>
          <a:stretch>
            <a:fillRect/>
          </a:stretch>
        </p:blipFill>
        <p:spPr>
          <a:xfrm>
            <a:off x="1804988" y="1448375"/>
            <a:ext cx="5534025" cy="2733675"/>
          </a:xfrm>
          <a:prstGeom prst="rect">
            <a:avLst/>
          </a:prstGeom>
          <a:noFill/>
          <a:ln>
            <a:noFill/>
          </a:ln>
        </p:spPr>
      </p:pic>
      <p:sp>
        <p:nvSpPr>
          <p:cNvPr id="121" name="Google Shape;121;p21"/>
          <p:cNvSpPr txBox="1"/>
          <p:nvPr/>
        </p:nvSpPr>
        <p:spPr>
          <a:xfrm>
            <a:off x="3778650" y="4612725"/>
            <a:ext cx="539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2" name="Google Shape;122;p21"/>
          <p:cNvSpPr txBox="1"/>
          <p:nvPr/>
        </p:nvSpPr>
        <p:spPr>
          <a:xfrm>
            <a:off x="3069900" y="4334700"/>
            <a:ext cx="300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3F3F3"/>
                </a:solidFill>
              </a:rPr>
              <a:t>Image source: ResearchGate</a:t>
            </a:r>
            <a:endParaRPr>
              <a:solidFill>
                <a:srgbClr val="F3F3F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Model Training &amp; Evaluation</a:t>
            </a:r>
            <a:endParaRPr>
              <a:solidFill>
                <a:schemeClr val="lt1"/>
              </a:solidFill>
            </a:endParaRPr>
          </a:p>
        </p:txBody>
      </p:sp>
      <p:sp>
        <p:nvSpPr>
          <p:cNvPr id="128" name="Google Shape;128;p2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20000"/>
          </a:bodyPr>
          <a:lstStyle/>
          <a:p>
            <a:pPr indent="-317500" lvl="0" marL="457200" rtl="0" algn="just">
              <a:spcBef>
                <a:spcPts val="0"/>
              </a:spcBef>
              <a:spcAft>
                <a:spcPts val="0"/>
              </a:spcAft>
              <a:buClr>
                <a:srgbClr val="F3F3F3"/>
              </a:buClr>
              <a:buSzPts val="1400"/>
              <a:buChar char="❖"/>
            </a:pPr>
            <a:r>
              <a:rPr lang="en">
                <a:solidFill>
                  <a:srgbClr val="F3F3F3"/>
                </a:solidFill>
              </a:rPr>
              <a:t>The training process involved iteratively updating the model’s weights and biases to minimize the loss function.</a:t>
            </a:r>
            <a:endParaRPr>
              <a:solidFill>
                <a:srgbClr val="F3F3F3"/>
              </a:solidFill>
            </a:endParaRPr>
          </a:p>
          <a:p>
            <a:pPr indent="-317500" lvl="0" marL="457200" rtl="0" algn="just">
              <a:spcBef>
                <a:spcPts val="1000"/>
              </a:spcBef>
              <a:spcAft>
                <a:spcPts val="0"/>
              </a:spcAft>
              <a:buClr>
                <a:srgbClr val="F3F3F3"/>
              </a:buClr>
              <a:buSzPts val="1400"/>
              <a:buChar char="❖"/>
            </a:pPr>
            <a:r>
              <a:rPr lang="en">
                <a:solidFill>
                  <a:srgbClr val="F3F3F3"/>
                </a:solidFill>
              </a:rPr>
              <a:t>We utilized an optimizer, stochastic gradient descent to efficiently update the model parameters.</a:t>
            </a:r>
            <a:endParaRPr>
              <a:solidFill>
                <a:srgbClr val="F3F3F3"/>
              </a:solidFill>
            </a:endParaRPr>
          </a:p>
          <a:p>
            <a:pPr indent="-317500" lvl="0" marL="457200" rtl="0" algn="just">
              <a:spcBef>
                <a:spcPts val="1000"/>
              </a:spcBef>
              <a:spcAft>
                <a:spcPts val="0"/>
              </a:spcAft>
              <a:buClr>
                <a:srgbClr val="F3F3F3"/>
              </a:buClr>
              <a:buSzPts val="1400"/>
              <a:buChar char="❖"/>
            </a:pPr>
            <a:r>
              <a:rPr lang="en">
                <a:solidFill>
                  <a:srgbClr val="F3F3F3"/>
                </a:solidFill>
              </a:rPr>
              <a:t>To handle large datasets we employed mini-batch training where the training data is </a:t>
            </a:r>
            <a:r>
              <a:rPr lang="en">
                <a:solidFill>
                  <a:srgbClr val="F3F3F3"/>
                </a:solidFill>
              </a:rPr>
              <a:t>divided into smaller batches.</a:t>
            </a:r>
            <a:endParaRPr>
              <a:solidFill>
                <a:srgbClr val="F3F3F3"/>
              </a:solidFill>
            </a:endParaRPr>
          </a:p>
          <a:p>
            <a:pPr indent="-317500" lvl="0" marL="457200" rtl="0" algn="just">
              <a:spcBef>
                <a:spcPts val="1000"/>
              </a:spcBef>
              <a:spcAft>
                <a:spcPts val="1000"/>
              </a:spcAft>
              <a:buClr>
                <a:srgbClr val="F3F3F3"/>
              </a:buClr>
              <a:buSzPts val="1400"/>
              <a:buChar char="❖"/>
            </a:pPr>
            <a:r>
              <a:rPr lang="en">
                <a:solidFill>
                  <a:srgbClr val="F3F3F3"/>
                </a:solidFill>
              </a:rPr>
              <a:t>We evaluated the model using training dataset. We computed evaluation metrics accuracy, precision, recall to assess model’s ability.</a:t>
            </a:r>
            <a:endParaRPr>
              <a:solidFill>
                <a:srgbClr val="F3F3F3"/>
              </a:solidFill>
            </a:endParaRPr>
          </a:p>
        </p:txBody>
      </p:sp>
      <p:sp>
        <p:nvSpPr>
          <p:cNvPr id="129" name="Google Shape;12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130" name="Google Shape;130;p22"/>
          <p:cNvPicPr preferRelativeResize="0"/>
          <p:nvPr/>
        </p:nvPicPr>
        <p:blipFill>
          <a:blip r:embed="rId4">
            <a:alphaModFix/>
          </a:blip>
          <a:stretch>
            <a:fillRect/>
          </a:stretch>
        </p:blipFill>
        <p:spPr>
          <a:xfrm>
            <a:off x="4651475" y="462650"/>
            <a:ext cx="3820974" cy="4218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Evaluation Graph</a:t>
            </a:r>
            <a:endParaRPr>
              <a:solidFill>
                <a:schemeClr val="lt1"/>
              </a:solidFill>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137" name="Google Shape;137;p23"/>
          <p:cNvPicPr preferRelativeResize="0"/>
          <p:nvPr/>
        </p:nvPicPr>
        <p:blipFill>
          <a:blip r:embed="rId4">
            <a:alphaModFix/>
          </a:blip>
          <a:stretch>
            <a:fillRect/>
          </a:stretch>
        </p:blipFill>
        <p:spPr>
          <a:xfrm>
            <a:off x="2131550" y="1152475"/>
            <a:ext cx="4880924" cy="35107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Results and Analysis</a:t>
            </a:r>
            <a:endParaRPr>
              <a:solidFill>
                <a:schemeClr val="lt1"/>
              </a:solidFill>
            </a:endParaRPr>
          </a:p>
        </p:txBody>
      </p:sp>
      <p:sp>
        <p:nvSpPr>
          <p:cNvPr id="143" name="Google Shape;14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F3F3F3"/>
                </a:solidFill>
              </a:rPr>
              <a:t>Set 1:</a:t>
            </a:r>
            <a:endParaRPr>
              <a:solidFill>
                <a:srgbClr val="F3F3F3"/>
              </a:solidFill>
            </a:endParaRPr>
          </a:p>
          <a:p>
            <a:pPr indent="0" lvl="0" marL="0" rtl="0" algn="l">
              <a:spcBef>
                <a:spcPts val="1200"/>
              </a:spcBef>
              <a:spcAft>
                <a:spcPts val="0"/>
              </a:spcAft>
              <a:buNone/>
            </a:pPr>
            <a:r>
              <a:t/>
            </a:r>
            <a:endParaRPr>
              <a:solidFill>
                <a:srgbClr val="F3F3F3"/>
              </a:solidFill>
            </a:endParaRPr>
          </a:p>
          <a:p>
            <a:pPr indent="0" lvl="0" marL="0" rtl="0" algn="l">
              <a:spcBef>
                <a:spcPts val="1200"/>
              </a:spcBef>
              <a:spcAft>
                <a:spcPts val="1200"/>
              </a:spcAft>
              <a:buNone/>
            </a:pPr>
            <a:r>
              <a:t/>
            </a:r>
            <a:endParaRPr>
              <a:solidFill>
                <a:srgbClr val="F3F3F3"/>
              </a:solidFill>
            </a:endParaRPr>
          </a:p>
        </p:txBody>
      </p:sp>
      <p:sp>
        <p:nvSpPr>
          <p:cNvPr id="144" name="Google Shape;14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145" name="Google Shape;145;p24"/>
          <p:cNvPicPr preferRelativeResize="0"/>
          <p:nvPr/>
        </p:nvPicPr>
        <p:blipFill>
          <a:blip r:embed="rId4">
            <a:alphaModFix/>
          </a:blip>
          <a:stretch>
            <a:fillRect/>
          </a:stretch>
        </p:blipFill>
        <p:spPr>
          <a:xfrm>
            <a:off x="311700" y="1819275"/>
            <a:ext cx="3352800" cy="1504950"/>
          </a:xfrm>
          <a:prstGeom prst="rect">
            <a:avLst/>
          </a:prstGeom>
          <a:noFill/>
          <a:ln>
            <a:noFill/>
          </a:ln>
        </p:spPr>
      </p:pic>
      <p:pic>
        <p:nvPicPr>
          <p:cNvPr id="146" name="Google Shape;146;p24"/>
          <p:cNvPicPr preferRelativeResize="0"/>
          <p:nvPr/>
        </p:nvPicPr>
        <p:blipFill>
          <a:blip r:embed="rId5">
            <a:alphaModFix/>
          </a:blip>
          <a:stretch>
            <a:fillRect/>
          </a:stretch>
        </p:blipFill>
        <p:spPr>
          <a:xfrm>
            <a:off x="3925250" y="2252901"/>
            <a:ext cx="4907050" cy="637675"/>
          </a:xfrm>
          <a:prstGeom prst="rect">
            <a:avLst/>
          </a:prstGeom>
          <a:noFill/>
          <a:ln>
            <a:noFill/>
          </a:ln>
        </p:spPr>
      </p:pic>
      <p:sp>
        <p:nvSpPr>
          <p:cNvPr id="147" name="Google Shape;147;p24"/>
          <p:cNvSpPr txBox="1"/>
          <p:nvPr/>
        </p:nvSpPr>
        <p:spPr>
          <a:xfrm>
            <a:off x="1665900" y="3551175"/>
            <a:ext cx="64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3F3F3"/>
                </a:solidFill>
              </a:rPr>
              <a:t>Input </a:t>
            </a:r>
            <a:endParaRPr>
              <a:solidFill>
                <a:srgbClr val="F3F3F3"/>
              </a:solidFill>
            </a:endParaRPr>
          </a:p>
        </p:txBody>
      </p:sp>
      <p:sp>
        <p:nvSpPr>
          <p:cNvPr id="148" name="Google Shape;148;p24"/>
          <p:cNvSpPr txBox="1"/>
          <p:nvPr/>
        </p:nvSpPr>
        <p:spPr>
          <a:xfrm>
            <a:off x="6006025" y="3551175"/>
            <a:ext cx="74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3F3F3"/>
                </a:solidFill>
              </a:rPr>
              <a:t>Output</a:t>
            </a:r>
            <a:endParaRPr>
              <a:solidFill>
                <a:srgbClr val="F3F3F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Results and Analysis</a:t>
            </a:r>
            <a:endParaRPr>
              <a:solidFill>
                <a:schemeClr val="lt1"/>
              </a:solidFill>
            </a:endParaRPr>
          </a:p>
        </p:txBody>
      </p:sp>
      <p:sp>
        <p:nvSpPr>
          <p:cNvPr id="154" name="Google Shape;15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F3F3F3"/>
                </a:solidFill>
              </a:rPr>
              <a:t>Set 2:</a:t>
            </a:r>
            <a:endParaRPr>
              <a:solidFill>
                <a:srgbClr val="F3F3F3"/>
              </a:solidFill>
            </a:endParaRPr>
          </a:p>
          <a:p>
            <a:pPr indent="0" lvl="0" marL="0" rtl="0" algn="l">
              <a:spcBef>
                <a:spcPts val="1200"/>
              </a:spcBef>
              <a:spcAft>
                <a:spcPts val="1200"/>
              </a:spcAft>
              <a:buNone/>
            </a:pPr>
            <a:r>
              <a:t/>
            </a:r>
            <a:endParaRPr>
              <a:solidFill>
                <a:srgbClr val="F3F3F3"/>
              </a:solidFill>
            </a:endParaRPr>
          </a:p>
        </p:txBody>
      </p:sp>
      <p:sp>
        <p:nvSpPr>
          <p:cNvPr id="155" name="Google Shape;15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156" name="Google Shape;156;p25"/>
          <p:cNvPicPr preferRelativeResize="0"/>
          <p:nvPr/>
        </p:nvPicPr>
        <p:blipFill>
          <a:blip r:embed="rId4">
            <a:alphaModFix/>
          </a:blip>
          <a:stretch>
            <a:fillRect/>
          </a:stretch>
        </p:blipFill>
        <p:spPr>
          <a:xfrm>
            <a:off x="311700" y="1738100"/>
            <a:ext cx="3351425" cy="1699325"/>
          </a:xfrm>
          <a:prstGeom prst="rect">
            <a:avLst/>
          </a:prstGeom>
          <a:noFill/>
          <a:ln>
            <a:noFill/>
          </a:ln>
        </p:spPr>
      </p:pic>
      <p:pic>
        <p:nvPicPr>
          <p:cNvPr id="157" name="Google Shape;157;p25"/>
          <p:cNvPicPr preferRelativeResize="0"/>
          <p:nvPr/>
        </p:nvPicPr>
        <p:blipFill>
          <a:blip r:embed="rId5">
            <a:alphaModFix/>
          </a:blip>
          <a:stretch>
            <a:fillRect/>
          </a:stretch>
        </p:blipFill>
        <p:spPr>
          <a:xfrm>
            <a:off x="3924700" y="2234900"/>
            <a:ext cx="4907601" cy="673699"/>
          </a:xfrm>
          <a:prstGeom prst="rect">
            <a:avLst/>
          </a:prstGeom>
          <a:noFill/>
          <a:ln>
            <a:noFill/>
          </a:ln>
        </p:spPr>
      </p:pic>
      <p:sp>
        <p:nvSpPr>
          <p:cNvPr id="158" name="Google Shape;158;p25"/>
          <p:cNvSpPr txBox="1"/>
          <p:nvPr/>
        </p:nvSpPr>
        <p:spPr>
          <a:xfrm>
            <a:off x="1684100" y="3677550"/>
            <a:ext cx="60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3F3F3"/>
                </a:solidFill>
              </a:rPr>
              <a:t>Input</a:t>
            </a:r>
            <a:endParaRPr>
              <a:solidFill>
                <a:srgbClr val="F3F3F3"/>
              </a:solidFill>
            </a:endParaRPr>
          </a:p>
        </p:txBody>
      </p:sp>
      <p:sp>
        <p:nvSpPr>
          <p:cNvPr id="159" name="Google Shape;159;p25"/>
          <p:cNvSpPr txBox="1"/>
          <p:nvPr/>
        </p:nvSpPr>
        <p:spPr>
          <a:xfrm>
            <a:off x="5955200" y="3677550"/>
            <a:ext cx="84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3F3F3"/>
                </a:solidFill>
              </a:rPr>
              <a:t>Output</a:t>
            </a:r>
            <a:endParaRPr>
              <a:solidFill>
                <a:srgbClr val="F3F3F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Results and Analysis</a:t>
            </a:r>
            <a:endParaRPr>
              <a:solidFill>
                <a:schemeClr val="lt1"/>
              </a:solidFill>
            </a:endParaRPr>
          </a:p>
        </p:txBody>
      </p:sp>
      <p:sp>
        <p:nvSpPr>
          <p:cNvPr id="165" name="Google Shape;16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just">
              <a:spcBef>
                <a:spcPts val="0"/>
              </a:spcBef>
              <a:spcAft>
                <a:spcPts val="0"/>
              </a:spcAft>
              <a:buClr>
                <a:srgbClr val="F3F3F3"/>
              </a:buClr>
              <a:buSzPts val="1600"/>
              <a:buChar char="❖"/>
            </a:pPr>
            <a:r>
              <a:rPr lang="en" sz="1600">
                <a:solidFill>
                  <a:srgbClr val="F3F3F3"/>
                </a:solidFill>
              </a:rPr>
              <a:t>Upon training and fine-tuning our model using the established methodology, we proceeded to evaluate its performance rigorously. The following analysis unveils the test accuracy results, a critical measure that gauges the model's ability to generalize its learnings to previously unseen data.</a:t>
            </a:r>
            <a:endParaRPr sz="1600">
              <a:solidFill>
                <a:srgbClr val="F3F3F3"/>
              </a:solidFill>
            </a:endParaRPr>
          </a:p>
          <a:p>
            <a:pPr indent="-330200" lvl="0" marL="457200" rtl="0" algn="l">
              <a:spcBef>
                <a:spcPts val="1000"/>
              </a:spcBef>
              <a:spcAft>
                <a:spcPts val="0"/>
              </a:spcAft>
              <a:buClr>
                <a:srgbClr val="F3F3F3"/>
              </a:buClr>
              <a:buSzPts val="1600"/>
              <a:buChar char="❖"/>
            </a:pPr>
            <a:r>
              <a:rPr lang="en" sz="1600">
                <a:solidFill>
                  <a:srgbClr val="F3F3F3"/>
                </a:solidFill>
              </a:rPr>
              <a:t>Accuracy -</a:t>
            </a:r>
            <a:endParaRPr sz="1600">
              <a:solidFill>
                <a:srgbClr val="F3F3F3"/>
              </a:solidFill>
            </a:endParaRPr>
          </a:p>
        </p:txBody>
      </p:sp>
      <p:sp>
        <p:nvSpPr>
          <p:cNvPr id="166" name="Google Shape;16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167" name="Google Shape;167;p26"/>
          <p:cNvPicPr preferRelativeResize="0"/>
          <p:nvPr/>
        </p:nvPicPr>
        <p:blipFill>
          <a:blip r:embed="rId4">
            <a:alphaModFix/>
          </a:blip>
          <a:stretch>
            <a:fillRect/>
          </a:stretch>
        </p:blipFill>
        <p:spPr>
          <a:xfrm>
            <a:off x="859350" y="2893050"/>
            <a:ext cx="7681674" cy="1461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Conclusion and Future Work</a:t>
            </a:r>
            <a:endParaRPr>
              <a:solidFill>
                <a:schemeClr val="lt1"/>
              </a:solidFill>
            </a:endParaRPr>
          </a:p>
        </p:txBody>
      </p:sp>
      <p:sp>
        <p:nvSpPr>
          <p:cNvPr id="173" name="Google Shape;17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just">
              <a:spcBef>
                <a:spcPts val="0"/>
              </a:spcBef>
              <a:spcAft>
                <a:spcPts val="0"/>
              </a:spcAft>
              <a:buClr>
                <a:srgbClr val="F3F3F3"/>
              </a:buClr>
              <a:buSzPts val="1600"/>
              <a:buChar char="❖"/>
            </a:pPr>
            <a:r>
              <a:rPr lang="en" sz="1600">
                <a:solidFill>
                  <a:srgbClr val="F3F3F3"/>
                </a:solidFill>
              </a:rPr>
              <a:t>In conclusion, our project focused on the development of a Handwritten Digit Recognition System using Convolutional Neural Networks (CNNs). Through careful dataset selection, preprocessing, model training, and evaluation, we have successfully built a system that can accurately identify and classify handwritten digits with high precision and efficiency.</a:t>
            </a:r>
            <a:endParaRPr sz="1600">
              <a:solidFill>
                <a:srgbClr val="F3F3F3"/>
              </a:solidFill>
            </a:endParaRPr>
          </a:p>
          <a:p>
            <a:pPr indent="-330200" lvl="0" marL="457200" rtl="0" algn="just">
              <a:spcBef>
                <a:spcPts val="1000"/>
              </a:spcBef>
              <a:spcAft>
                <a:spcPts val="0"/>
              </a:spcAft>
              <a:buClr>
                <a:srgbClr val="F3F3F3"/>
              </a:buClr>
              <a:buSzPts val="1600"/>
              <a:buChar char="❖"/>
            </a:pPr>
            <a:r>
              <a:rPr lang="en" sz="1600">
                <a:solidFill>
                  <a:srgbClr val="F3F3F3"/>
                </a:solidFill>
              </a:rPr>
              <a:t>Looking ahead, there are opportunities for further improvements and research in this field. Exploring larger datasets, refining preprocessing techniques, optimizing model architectures, and exploring more advanced deep learning approaches can enhance the system's capabilities and extend its applications.</a:t>
            </a:r>
            <a:endParaRPr sz="1400">
              <a:solidFill>
                <a:srgbClr val="F3F3F3"/>
              </a:solidFill>
            </a:endParaRPr>
          </a:p>
        </p:txBody>
      </p:sp>
      <p:sp>
        <p:nvSpPr>
          <p:cNvPr id="174" name="Google Shape;17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Acknowledgement</a:t>
            </a:r>
            <a:endParaRPr>
              <a:solidFill>
                <a:schemeClr val="lt1"/>
              </a:solidFill>
            </a:endParaRPr>
          </a:p>
        </p:txBody>
      </p:sp>
      <p:sp>
        <p:nvSpPr>
          <p:cNvPr id="180" name="Google Shape;18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just">
              <a:spcBef>
                <a:spcPts val="0"/>
              </a:spcBef>
              <a:spcAft>
                <a:spcPts val="0"/>
              </a:spcAft>
              <a:buClr>
                <a:srgbClr val="F3F3F3"/>
              </a:buClr>
              <a:buSzPts val="1600"/>
              <a:buChar char="❖"/>
            </a:pPr>
            <a:r>
              <a:rPr lang="en" sz="1600">
                <a:solidFill>
                  <a:srgbClr val="F3F3F3"/>
                </a:solidFill>
              </a:rPr>
              <a:t>We would like to Express our special thanks of gratitude to our computer science professor </a:t>
            </a:r>
            <a:r>
              <a:rPr b="1" lang="en" sz="1600">
                <a:solidFill>
                  <a:srgbClr val="F3F3F3"/>
                </a:solidFill>
              </a:rPr>
              <a:t>Mr. Probir Mondal</a:t>
            </a:r>
            <a:r>
              <a:rPr lang="en" sz="1600">
                <a:solidFill>
                  <a:srgbClr val="F3F3F3"/>
                </a:solidFill>
              </a:rPr>
              <a:t> for giving us this opportunity and for guiding us to make and fulfill this project.</a:t>
            </a:r>
            <a:endParaRPr sz="1600">
              <a:solidFill>
                <a:srgbClr val="F3F3F3"/>
              </a:solidFill>
            </a:endParaRPr>
          </a:p>
          <a:p>
            <a:pPr indent="-330200" lvl="0" marL="457200" rtl="0" algn="just">
              <a:spcBef>
                <a:spcPts val="1000"/>
              </a:spcBef>
              <a:spcAft>
                <a:spcPts val="0"/>
              </a:spcAft>
              <a:buClr>
                <a:srgbClr val="F3F3F3"/>
              </a:buClr>
              <a:buSzPts val="1600"/>
              <a:buChar char="❖"/>
            </a:pPr>
            <a:r>
              <a:rPr lang="en" sz="1600">
                <a:solidFill>
                  <a:srgbClr val="F3F3F3"/>
                </a:solidFill>
              </a:rPr>
              <a:t>I would also like to extend my gratitude to my team members for their valuable contribution and enormous support in this project.</a:t>
            </a:r>
            <a:endParaRPr sz="1600">
              <a:solidFill>
                <a:srgbClr val="F3F3F3"/>
              </a:solidFill>
            </a:endParaRPr>
          </a:p>
          <a:p>
            <a:pPr indent="0" lvl="0" marL="0" rtl="0" algn="just">
              <a:spcBef>
                <a:spcPts val="1200"/>
              </a:spcBef>
              <a:spcAft>
                <a:spcPts val="0"/>
              </a:spcAft>
              <a:buNone/>
            </a:pPr>
            <a:r>
              <a:t/>
            </a:r>
            <a:endParaRPr sz="1600">
              <a:solidFill>
                <a:srgbClr val="F3F3F3"/>
              </a:solidFill>
            </a:endParaRPr>
          </a:p>
          <a:p>
            <a:pPr indent="457200" lvl="0" marL="0" rtl="0" algn="just">
              <a:spcBef>
                <a:spcPts val="1200"/>
              </a:spcBef>
              <a:spcAft>
                <a:spcPts val="0"/>
              </a:spcAft>
              <a:buNone/>
            </a:pPr>
            <a:r>
              <a:rPr b="1" lang="en" sz="1600">
                <a:solidFill>
                  <a:srgbClr val="F3F3F3"/>
                </a:solidFill>
              </a:rPr>
              <a:t>Resources Used: </a:t>
            </a:r>
            <a:r>
              <a:rPr lang="en" sz="1400" u="sng">
                <a:solidFill>
                  <a:srgbClr val="F3F3F3"/>
                </a:solidFill>
                <a:latin typeface="Lato"/>
                <a:ea typeface="Lato"/>
                <a:cs typeface="Lato"/>
                <a:sym typeface="Lato"/>
                <a:hlinkClick r:id="rId4">
                  <a:extLst>
                    <a:ext uri="{A12FA001-AC4F-418D-AE19-62706E023703}">
                      <ahyp:hlinkClr val="tx"/>
                    </a:ext>
                  </a:extLst>
                </a:hlinkClick>
              </a:rPr>
              <a:t>Google Slide</a:t>
            </a:r>
            <a:r>
              <a:rPr lang="en" sz="1400">
                <a:solidFill>
                  <a:srgbClr val="F3F3F3"/>
                </a:solidFill>
                <a:latin typeface="Lato"/>
                <a:ea typeface="Lato"/>
                <a:cs typeface="Lato"/>
                <a:sym typeface="Lato"/>
              </a:rPr>
              <a:t> , </a:t>
            </a:r>
            <a:r>
              <a:rPr lang="en" sz="1400" u="sng">
                <a:solidFill>
                  <a:srgbClr val="F3F3F3"/>
                </a:solidFill>
                <a:latin typeface="Lato"/>
                <a:ea typeface="Lato"/>
                <a:cs typeface="Lato"/>
                <a:sym typeface="Lato"/>
                <a:hlinkClick r:id="rId5">
                  <a:extLst>
                    <a:ext uri="{A12FA001-AC4F-418D-AE19-62706E023703}">
                      <ahyp:hlinkClr val="tx"/>
                    </a:ext>
                  </a:extLst>
                </a:hlinkClick>
              </a:rPr>
              <a:t>Diagrams.net</a:t>
            </a:r>
            <a:r>
              <a:rPr lang="en" sz="1400">
                <a:solidFill>
                  <a:srgbClr val="F3F3F3"/>
                </a:solidFill>
                <a:latin typeface="Lato"/>
                <a:ea typeface="Lato"/>
                <a:cs typeface="Lato"/>
                <a:sym typeface="Lato"/>
              </a:rPr>
              <a:t> , </a:t>
            </a:r>
            <a:r>
              <a:rPr lang="en" sz="1400" u="sng">
                <a:solidFill>
                  <a:srgbClr val="F3F3F3"/>
                </a:solidFill>
                <a:latin typeface="Lato"/>
                <a:ea typeface="Lato"/>
                <a:cs typeface="Lato"/>
                <a:sym typeface="Lato"/>
                <a:hlinkClick r:id="rId6">
                  <a:extLst>
                    <a:ext uri="{A12FA001-AC4F-418D-AE19-62706E023703}">
                      <ahyp:hlinkClr val="tx"/>
                    </a:ext>
                  </a:extLst>
                </a:hlinkClick>
              </a:rPr>
              <a:t>OpenAi GPT 3.5</a:t>
            </a:r>
            <a:r>
              <a:rPr lang="en" sz="1600">
                <a:solidFill>
                  <a:srgbClr val="F3F3F3"/>
                </a:solidFill>
              </a:rPr>
              <a:t>, </a:t>
            </a:r>
            <a:r>
              <a:rPr lang="en" sz="1400" u="sng">
                <a:solidFill>
                  <a:srgbClr val="F3F3F3"/>
                </a:solidFill>
                <a:hlinkClick r:id="rId7">
                  <a:extLst>
                    <a:ext uri="{A12FA001-AC4F-418D-AE19-62706E023703}">
                      <ahyp:hlinkClr val="tx"/>
                    </a:ext>
                  </a:extLst>
                </a:hlinkClick>
              </a:rPr>
              <a:t>Google Docs</a:t>
            </a:r>
            <a:r>
              <a:rPr lang="en" sz="1400">
                <a:solidFill>
                  <a:srgbClr val="F3F3F3"/>
                </a:solidFill>
              </a:rPr>
              <a:t>, </a:t>
            </a:r>
            <a:r>
              <a:rPr lang="en" sz="1400" u="sng">
                <a:solidFill>
                  <a:srgbClr val="F3F3F3"/>
                </a:solidFill>
                <a:hlinkClick r:id="rId8">
                  <a:extLst>
                    <a:ext uri="{A12FA001-AC4F-418D-AE19-62706E023703}">
                      <ahyp:hlinkClr val="tx"/>
                    </a:ext>
                  </a:extLst>
                </a:hlinkClick>
              </a:rPr>
              <a:t>Colaboratory</a:t>
            </a:r>
            <a:endParaRPr sz="1400" u="sng">
              <a:solidFill>
                <a:srgbClr val="F3F3F3"/>
              </a:solidFill>
            </a:endParaRPr>
          </a:p>
          <a:p>
            <a:pPr indent="0" lvl="0" marL="0" rtl="0" algn="just">
              <a:spcBef>
                <a:spcPts val="0"/>
              </a:spcBef>
              <a:spcAft>
                <a:spcPts val="0"/>
              </a:spcAft>
              <a:buNone/>
            </a:pPr>
            <a:r>
              <a:rPr lang="en" sz="1600">
                <a:solidFill>
                  <a:schemeClr val="lt1"/>
                </a:solidFill>
              </a:rPr>
              <a:t>			      	      </a:t>
            </a:r>
            <a:r>
              <a:rPr lang="en" sz="1400" u="sng">
                <a:solidFill>
                  <a:schemeClr val="lt1"/>
                </a:solidFill>
                <a:hlinkClick r:id="rId9">
                  <a:extLst>
                    <a:ext uri="{A12FA001-AC4F-418D-AE19-62706E023703}">
                      <ahyp:hlinkClr val="tx"/>
                    </a:ext>
                  </a:extLst>
                </a:hlinkClick>
              </a:rPr>
              <a:t>Bing AI Image Creator</a:t>
            </a:r>
            <a:endParaRPr sz="1400">
              <a:solidFill>
                <a:schemeClr val="lt1"/>
              </a:solidFill>
            </a:endParaRPr>
          </a:p>
        </p:txBody>
      </p:sp>
      <p:sp>
        <p:nvSpPr>
          <p:cNvPr id="181" name="Google Shape;18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 name="Shape 185"/>
        <p:cNvGrpSpPr/>
        <p:nvPr/>
      </p:nvGrpSpPr>
      <p:grpSpPr>
        <a:xfrm>
          <a:off x="0" y="0"/>
          <a:ext cx="0" cy="0"/>
          <a:chOff x="0" y="0"/>
          <a:chExt cx="0" cy="0"/>
        </a:xfrm>
      </p:grpSpPr>
      <p:sp>
        <p:nvSpPr>
          <p:cNvPr id="186" name="Google Shape;186;p29"/>
          <p:cNvSpPr txBox="1"/>
          <p:nvPr>
            <p:ph type="title"/>
          </p:nvPr>
        </p:nvSpPr>
        <p:spPr>
          <a:xfrm>
            <a:off x="490250" y="450150"/>
            <a:ext cx="79821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rgbClr val="F3F3F3"/>
                </a:solidFill>
              </a:rPr>
              <a:t>Queries</a:t>
            </a:r>
            <a:endParaRPr>
              <a:solidFill>
                <a:srgbClr val="F3F3F3"/>
              </a:solidFill>
            </a:endParaRPr>
          </a:p>
        </p:txBody>
      </p:sp>
      <p:sp>
        <p:nvSpPr>
          <p:cNvPr id="187" name="Google Shape;187;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 name="Shape 191"/>
        <p:cNvGrpSpPr/>
        <p:nvPr/>
      </p:nvGrpSpPr>
      <p:grpSpPr>
        <a:xfrm>
          <a:off x="0" y="0"/>
          <a:ext cx="0" cy="0"/>
          <a:chOff x="0" y="0"/>
          <a:chExt cx="0" cy="0"/>
        </a:xfrm>
      </p:grpSpPr>
      <p:sp>
        <p:nvSpPr>
          <p:cNvPr id="192" name="Google Shape;192;p30"/>
          <p:cNvSpPr txBox="1"/>
          <p:nvPr>
            <p:ph type="title"/>
          </p:nvPr>
        </p:nvSpPr>
        <p:spPr>
          <a:xfrm>
            <a:off x="490250" y="450150"/>
            <a:ext cx="79821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Thank You</a:t>
            </a:r>
            <a:endParaRPr>
              <a:solidFill>
                <a:schemeClr val="lt1"/>
              </a:solidFill>
            </a:endParaRPr>
          </a:p>
        </p:txBody>
      </p:sp>
      <p:sp>
        <p:nvSpPr>
          <p:cNvPr id="193" name="Google Shape;19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